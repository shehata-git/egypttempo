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Faculty of Computer Science &amp; Information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ConvLSTM Climate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CADCFC"/>
                </a:solidFill>
              </a:defRPr>
            </a:pPr>
            <a:r>
              <a:t>Spatio-Temporal AI for NASA MODIS Temperature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0" y="4114800"/>
            <a:ext cx="128016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NASA MODIS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114800"/>
            <a:ext cx="128016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Deep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114800"/>
            <a:ext cx="128016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Big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4114800"/>
            <a:ext cx="128016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GPU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Mohamed Ahmed Mohamed Ali Shehata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202203567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Serag Al-Deen Assem Abd El-Azeez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202202723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Basil Ameen Mohamed Ahmed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202203981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Hassan Khalaf Hassan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202203082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087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Amr Yasser Hemdan Ibrahim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373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202203819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4231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Ahmed Hany Fathy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51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202200721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375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3E50"/>
                </a:solidFill>
              </a:defRPr>
            </a:pPr>
            <a:r>
              <a:t>Adham Ibrahim Abd El-shafy Kasim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661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ID: 202201929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484632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5A82"/>
                </a:solidFill>
              </a:defRPr>
            </a:pPr>
            <a:r>
              <a:t>Complete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Forecast Egypt's daily land surface temperature (LST) pixel-by-pixel, one day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Process 10 years (2014-2024) of NASA MODIS satellite data — 3,650 HDF4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Build complete Big Data pipeline: NASA EarthData → MongoDB → Tensor processing → GPU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Train custom SpatioTemporalConvLSTM on 200×260 pixel grids (5.5 km resolution)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Predict complete geographic temperature map, not just a single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5321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3E50"/>
                </a:solidFill>
              </a:defRPr>
            </a:pPr>
            <a:r>
              <a:t>Production-grade system with 4-stage ETL pipeline and memory-optimized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Why Climate Forecasting is Challenging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840480" cy="237744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Physical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Temperature is a spatial field — values at every point are correlated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Spatiotemporal correlations require specialized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463040"/>
            <a:ext cx="3840480" cy="237744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0" y="16916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Statistical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194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Daily cycles, seasonal patterns, long-term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8803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Cloud contamination and sensor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3840480" cy="237744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44348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Computational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200×260 float32 array per day = ~200 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14-day sequences × 3,490 samples = enormous memory pressure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4206240"/>
            <a:ext cx="3840480" cy="237744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0" y="443484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9377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10-40% cloud contamination 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562356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Missing values must be carefully handled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Land Surface Temperature (LST)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0467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761"/>
                </a:solidFill>
              </a:defRPr>
            </a:pPr>
            <a:r>
              <a:rPr dirty="0"/>
              <a:t>Radiative temperature of Earth's land surface measured from space via thermal infrared 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LST vs Air Temperature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Air Temperature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LST</a:t>
                      </a:r>
                    </a:p>
                  </a:txBody>
                  <a:tcPr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~2m above 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Satellite, 705 km altitude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Daily swing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10-20°C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40-60°C (desert)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Spatial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Sparse point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52,000 pixels across Egypt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Few weather stations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5.5 km per pixel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Egyptian Sahara LST can reach 70-80°C while air temperature is only 45°C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NASA MODIS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MOD11A1.061 — Daily Land Surface Temperature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Temporal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2014-2024 (10 years)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01168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Total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3,650 HDF4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01168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19" y="2148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Spatial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19" y="2423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1 km globally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Egypt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11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200×260 pixels (5.5 km)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20040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3337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Satellite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611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Terra, 705 km altitude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200400"/>
            <a:ext cx="2560320" cy="91440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19" y="3337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7F8C8D"/>
                </a:solidFill>
              </a:defRPr>
            </a:pPr>
            <a:r>
              <a:t>Daily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3611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65A82"/>
                </a:solidFill>
              </a:defRPr>
            </a:pPr>
            <a:r>
              <a:t>~52,000 valid pixels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Key Advantages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Complete spatial coverage — no gaps like ground station networks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Quality flags identify cloud contamination and invalid pixels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6928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Calibrated, scientifically validated data from NASA EarthData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8076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10-year temporal span captures seasonal cycles and trends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Complete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828800" cy="20116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65A82"/>
                </a:solidFill>
              </a:defRPr>
            </a:pPr>
            <a:r>
              <a:rPr dirty="0"/>
              <a:t>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rPr dirty="0"/>
              <a:t>Download 3,650 HDF4 files from NASA </a:t>
            </a:r>
            <a:r>
              <a:rPr dirty="0" err="1"/>
              <a:t>EarthData</a:t>
            </a:r>
            <a:endParaRPr dirty="0"/>
          </a:p>
        </p:txBody>
      </p:sp>
      <p:sp>
        <p:nvSpPr>
          <p:cNvPr id="7" name="Right Arrow 6"/>
          <p:cNvSpPr/>
          <p:nvPr/>
        </p:nvSpPr>
        <p:spPr>
          <a:xfrm>
            <a:off x="2423159" y="2514600"/>
            <a:ext cx="182880" cy="274320"/>
          </a:xfrm>
          <a:prstGeom prst="right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51760" y="1645920"/>
            <a:ext cx="1828800" cy="20116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65A82"/>
                </a:solidFill>
              </a:defRPr>
            </a:pPr>
            <a:r>
              <a:t>ETL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Extract, clean, validate → MongoDB storage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26279" y="2514600"/>
            <a:ext cx="182880" cy="274320"/>
          </a:xfrm>
          <a:prstGeom prst="right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79" y="1645920"/>
            <a:ext cx="1828800" cy="20116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19" y="2560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65A82"/>
                </a:solidFill>
              </a:defRPr>
            </a:pPr>
            <a:r>
              <a:t>Tensor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14-day sliding windows → NumPy arrays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29398" y="2514600"/>
            <a:ext cx="182880" cy="274320"/>
          </a:xfrm>
          <a:prstGeom prst="right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7999" y="1645920"/>
            <a:ext cx="1828800" cy="20116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39" y="25603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65A82"/>
                </a:solidFill>
              </a:defRPr>
            </a:pPr>
            <a:r>
              <a:t>GPU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39" y="2926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ConvLSTM on Kaggle P100 with mixed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Key Technologies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95C"/>
                </a:solidFill>
              </a:defRPr>
            </a:pPr>
            <a:r>
              <a:t>• MongoDB: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57200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NoSQL database for flexible schema and aggregations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95C"/>
                </a:solidFill>
              </a:defRPr>
            </a:pPr>
            <a:r>
              <a:t>• Memory-Mapped I/O: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93776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Train on data larger than 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95C"/>
                </a:solidFill>
              </a:defRPr>
            </a:pPr>
            <a:r>
              <a:t>• PyTorch FP16: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30352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Mixed precision for 2× memory &amp; compute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95C"/>
                </a:solidFill>
              </a:defRPr>
            </a:pPr>
            <a:r>
              <a:t>• Gradient Accumulation: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66928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Effective batch size 32 with physical batch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Four-Stage ETL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Raw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00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1. Parse HDF4 files using pyhdf library</a:t>
            </a:r>
            <a:br/>
            <a:r>
              <a:t>2. Extract LST_Day_1km band (Kelvin × 0.02 scale)</a:t>
            </a:r>
            <a:br/>
            <a:r>
              <a:t>3. Extract QC_Day quality control flags</a:t>
            </a:r>
          </a:p>
        </p:txBody>
      </p:sp>
      <p:sp>
        <p:nvSpPr>
          <p:cNvPr id="7" name="Down Arrow 6"/>
          <p:cNvSpPr/>
          <p:nvPr/>
        </p:nvSpPr>
        <p:spPr>
          <a:xfrm>
            <a:off x="4389120" y="2606040"/>
            <a:ext cx="365760" cy="228600"/>
          </a:xfrm>
          <a:prstGeom prst="down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804672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Cleaning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880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1. Remove invalid values (fill values, out of range)</a:t>
            </a:r>
            <a:br/>
            <a:r>
              <a:t>2. Apply quality control masks (cloud contamination)</a:t>
            </a:r>
            <a:br/>
            <a:r>
              <a:t>3. Convert Kelvin to Celsius, clip to [-50, 100]°C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389120" y="3886200"/>
            <a:ext cx="365760" cy="228600"/>
          </a:xfrm>
          <a:prstGeom prst="down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804672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MongoDB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1605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1. Store cleaned arrays as binary in MongoDB</a:t>
            </a:r>
            <a:br/>
            <a:r>
              <a:t>2. Enable flexible queries and aggregations</a:t>
            </a:r>
            <a:br/>
            <a:r>
              <a:t>3. Idempotent upserts for pipeline recovery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389120" y="5166360"/>
            <a:ext cx="365760" cy="228600"/>
          </a:xfrm>
          <a:prstGeom prst="downArrow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5303520"/>
            <a:ext cx="804672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Tensor 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440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1. Create 14-day sliding window sequences</a:t>
            </a:r>
            <a:br/>
            <a:r>
              <a:t>2. Min-max normalization to [0, 1]</a:t>
            </a:r>
            <a:br/>
            <a:r>
              <a:t>3. Export as memory-mapped NumPy .npy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ConvLSTM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Combines CNN spatial feature extraction with LSTM temporal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Model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ConvLSTMCell 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17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1 → 64 channels, kernel 3×3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7F8C8D"/>
                </a:solidFill>
              </a:defRPr>
            </a:pPr>
            <a:r>
              <a:t>150,016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Consolas"/>
              </a:defRPr>
            </a:pPr>
            <a:r>
              <a:t>(B, 1, 200, 260) → (B, 64, 200, 260)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BatchNorm2d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49039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Stabilize training across spatial dimensions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3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7F8C8D"/>
                </a:solidFill>
              </a:defRPr>
            </a:pPr>
            <a:r>
              <a:t>256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Consolas"/>
              </a:defRPr>
            </a:pPr>
            <a:r>
              <a:t>(B, 64, 200, 260) → (B, 64, 200, 260)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48055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ConvLSTMCell Layer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80559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64 → 64 channels, kernel 3×3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8055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7F8C8D"/>
                </a:solidFill>
              </a:defRPr>
            </a:pPr>
            <a:r>
              <a:t>295,168 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Consolas"/>
              </a:defRPr>
            </a:pPr>
            <a:r>
              <a:t>(B, 64, 200, 260) → (B, 64, 200, 260)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7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Conv3D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212079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Collapse 14 timesteps → 1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21207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7F8C8D"/>
                </a:solidFill>
              </a:defRPr>
            </a:pPr>
            <a:r>
              <a:t>897 parameters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Consolas"/>
              </a:defRPr>
            </a:pPr>
            <a:r>
              <a:t>(B, 64, 14, 200, 260) → (B, 1, 200, 260)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Total Parameters: ~446,593  |  Model Size: 1.79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Why ConvLSTM for Climate?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</a:defRPr>
            </a:pPr>
            <a:r>
              <a:t>Standard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</a:defRPr>
            </a:pPr>
            <a:r>
              <a:t>ConvLSTM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931920" cy="3474720"/>
          </a:xfrm>
          <a:prstGeom prst="rect">
            <a:avLst/>
          </a:prstGeom>
          <a:solidFill>
            <a:srgbClr val="F8F9FA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0392B"/>
                </a:solidFill>
              </a:defRPr>
            </a:pPr>
            <a:r>
              <a:t>✗ Treats each pixel as independent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0392B"/>
                </a:solidFill>
              </a:defRPr>
            </a:pPr>
            <a:r>
              <a:t>✗ 52,000 pixels → 52,000 dimensional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0392B"/>
                </a:solidFill>
              </a:defRPr>
            </a:pPr>
            <a:r>
              <a:t>✗ Loses spatial structure and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0392B"/>
                </a:solidFill>
              </a:defRPr>
            </a:pPr>
            <a:r>
              <a:t>✗ Cannot capture geographic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0392B"/>
                </a:solidFill>
              </a:defRPr>
            </a:pPr>
            <a:r>
              <a:t>✗ Enormous parameter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20240"/>
            <a:ext cx="3931920" cy="347472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✓ Preserves 2D spatial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346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✓ Learns geographic features (Nile, desert, coast)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474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✓ Convolutions capture local correlations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1148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✓ Hidden states are spatial feature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754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✓ Efficient parameter usage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 err="1"/>
              <a:t>ConvLSTM's</a:t>
            </a:r>
            <a:r>
              <a:rPr dirty="0"/>
              <a:t> hidden states are geographic maps — each channel represents spatially distributed features learned across Egypt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Hyperparameters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Loss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965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SmoothL1 (Huber)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23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AdamW, lr=1e-4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3931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803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ReduceLROnPlateau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Physical Batch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3375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2 samples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931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Gradient Accumulation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9475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16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519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Effective Batch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25195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32 samples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393192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70915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FP16 mixed precision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1663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t>Gradient Clipping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16635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65A82"/>
                </a:solidFill>
              </a:defRPr>
            </a:pPr>
            <a:r>
              <a:t>max_norm=1.0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Design Rationale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92024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0" y="19933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Huber 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2402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Robust to outliers from cloud imputation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56032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263347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Small Physical Batch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880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VRAM constraint (~57 MB per sample)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20040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2735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Gradient Accumulation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520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Achieve large-batch training dynamics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384048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6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FP16 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160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2× memory reduction + Tensor Core speedup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448056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45537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Gradient Clipping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48006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Prevent exploding gradients in recurrent nets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5120640"/>
            <a:ext cx="393192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37760" y="51937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ReduceLROnPlateau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440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Adaptive learning rate when converging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GPU Optimization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2761"/>
                </a:solidFill>
              </a:defRPr>
            </a:pPr>
            <a:r>
              <a:t>Platform: Kaggle P100 GPU (16 GB VRAM)  |  Training Time: ~5 hours (22 epochs)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Memory-Mapped DataLoader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Load data directly from disk without loading entire dataset into RAM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2560320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423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Train on 3,490 samples × 2.9 MB each = ~10 GB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Mixed Precision (FP16)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16-bit floating point with automatic loss scaling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72000" y="3383279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3246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2× memory reduction + 2× compute speedup on Tensor Cores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59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Gradient Accumulation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Accumulate gradients over 16 micro-batches before optimizer step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72000" y="4206240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4069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Effective batch=32 while physical batch=2 (memory-efficient)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Explicit Garbage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gc.collect() and torch.cuda.empty_cache() after each stage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72000" y="5029200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48920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Prevent memory fragmentation in long pipelines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822960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5A82"/>
                </a:solidFill>
              </a:defRPr>
            </a:pPr>
            <a:r>
              <a:t>Hidden Dimension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97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Use 64 channels instead of 128/256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72000" y="5852160"/>
            <a:ext cx="274320" cy="22860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5715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AE60"/>
                </a:solidFill>
              </a:defRPr>
            </a:pPr>
            <a:r>
              <a:t>Reduce VRAM by 4-16× while maintaining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Training Results &amp; Loss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920240" cy="1005840"/>
          </a:xfrm>
          <a:prstGeom prst="rect">
            <a:avLst/>
          </a:prstGeom>
          <a:solidFill>
            <a:srgbClr val="F8F9FA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Best Validation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5A82"/>
                </a:solidFill>
              </a:defRPr>
            </a:pPr>
            <a:r>
              <a:t>0.0081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2C3E50"/>
                </a:solidFill>
              </a:defRPr>
            </a:pPr>
            <a:r>
              <a:t>(Epoch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463040"/>
            <a:ext cx="1920240" cy="1005840"/>
          </a:xfrm>
          <a:prstGeom prst="rect">
            <a:avLst/>
          </a:prstGeom>
          <a:solidFill>
            <a:srgbClr val="F8F9FA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16002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Final Training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1874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5A82"/>
                </a:solidFill>
              </a:defRPr>
            </a:pPr>
            <a:r>
              <a:t>0.0053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1945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2C3E50"/>
                </a:solidFill>
              </a:defRPr>
            </a:pPr>
            <a:r>
              <a:t>(36× reduction)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63040"/>
            <a:ext cx="1920240" cy="1005840"/>
          </a:xfrm>
          <a:prstGeom prst="rect">
            <a:avLst/>
          </a:prstGeom>
          <a:solidFill>
            <a:srgbClr val="F8F9FA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6002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Estimated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74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5A82"/>
                </a:solidFill>
              </a:defRPr>
            </a:pPr>
            <a:r>
              <a:t>~7.4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2C3E50"/>
                </a:solidFill>
              </a:defRPr>
            </a:pPr>
            <a:r>
              <a:t>(at best checkpoint)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1463040"/>
            <a:ext cx="1920240" cy="1005840"/>
          </a:xfrm>
          <a:prstGeom prst="rect">
            <a:avLst/>
          </a:prstGeom>
          <a:solidFill>
            <a:srgbClr val="F8F9FA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9" y="16002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Training Throughput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1874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65A82"/>
                </a:solidFill>
              </a:defRPr>
            </a:pPr>
            <a:r>
              <a:t>~1.70 it/s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2194560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2C3E50"/>
                </a:solidFill>
              </a:defRPr>
            </a:pPr>
            <a:r>
              <a:t>(P100 GPU)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Training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22 epochs completed in ~5 hours on Kaggle P100 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70332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Training loss decreased from 0.191 → 0.0053 (36× improvement)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1480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Validation loss stabilized early, suggesting good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Model successfully learned Egypt's spatial temperature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3776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Geographic features (Nile corridor, north-south gradient) clearly visible in predictions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3286" y="5623560"/>
            <a:ext cx="83406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Key Finding: </a:t>
            </a:r>
            <a:r>
              <a:rPr dirty="0" err="1"/>
              <a:t>ConvLSTM</a:t>
            </a:r>
            <a:r>
              <a:rPr dirty="0"/>
              <a:t> successfully learned spatiotemporal patterns from 10 years of satellite observations without explicit geographic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Spatial Prediction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Learned Geographic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Nile Corridor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Model identifies cooler temperatures along the river despite never being told where the Nile is located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0648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rPr dirty="0"/>
              <a:t>North-South Gradient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43795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rPr dirty="0"/>
              <a:t>Mediterranean coast consistently cooler than southern desert regions — learned purely from temperature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Desert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High temperature variance in Sahara correctly captured — hot days much hotter than coastal regions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Spatial Coherence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Predictions maintain smooth transitions — no random pixel jumps that would indicate model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Model produces full 200×260 spatial forecasts (52,000 pixels) — not point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Limitations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7E22"/>
                </a:solidFill>
              </a:defRPr>
            </a:pPr>
            <a: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Random temporal split instead of chronological — violates time-series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7E22"/>
                </a:solidFill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Final checkpoint used for evaluation, not best validation 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7E22"/>
                </a:solidFill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Single-channel LST input — no atmospheric variables or auxiliary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7E22"/>
                </a:solidFill>
              </a:defRPr>
            </a:pPr>
            <a: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Cloud contamination handled via simple spatial imputation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7E22"/>
                </a:solidFill>
              </a:defRPr>
            </a:pPr>
            <a: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14-day lookback may not capture longer seasonal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Chronological train/val/test split for proper temporal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4688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Save and load best validation checkpoint for final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0175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Multi-channel input: NDVI, elevation, solar radiation, humidity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566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Attention mechanisms for adaptive temporal weighting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148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Ensemble methods combining multiple ConvLSTM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Data Quality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Cloud contamination affects 10-40% of pixels daily — dominant data quality issue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Fill values and out-of-range readings require careful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5216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Spatial mean imputation is simple but may introduce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Engineering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4593"/>
            <a:ext cx="2560320" cy="1776549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Big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Successfully processed 3,650 HDF4 files (10 years of satellite data) through 4-stage ETL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924593"/>
            <a:ext cx="2560320" cy="1776549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423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MongoDB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Flexible NoSQL storage enabling aggregations and recovery from failures via idempotent upserts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924592"/>
            <a:ext cx="2560320" cy="1776549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19" y="2423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Memory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Memory-mapped DataLoader trains on 10 GB dataset with only 2-sample physical batches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99263"/>
            <a:ext cx="2560320" cy="2076994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GPU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Mixed precision FP16 + gradient accumulation achieves 2× speedup with effective batch size 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1583" y="3899263"/>
            <a:ext cx="2560320" cy="2076994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4343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Spatiotemporal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ConvLSTM learned Egypt's geographic structure from data alone — no explicit location information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899263"/>
            <a:ext cx="2560320" cy="2076994"/>
          </a:xfrm>
          <a:prstGeom prst="rect">
            <a:avLst/>
          </a:prstGeom>
          <a:solidFill>
            <a:srgbClr val="F8F9FA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19" y="4343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5A82"/>
                </a:solidFill>
              </a:defRPr>
            </a:pPr>
            <a:r>
              <a:t>Production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19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Pipeline recovery mechanisms, explicit garbage collection, and year-based checkpointing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Key Technical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solidFill>
            <a:srgbClr val="F8F9FA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Spatiotemporal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ConvLSTM preserves 2D spatial structure throughout processing</a:t>
            </a:r>
            <a:br/>
            <a:r>
              <a:t>• Hidden states are geographic feature maps, not abstract vectors</a:t>
            </a:r>
            <a:br/>
            <a:r>
              <a:t>• Conv3D temporal collapse produces single-day forecasts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39"/>
            <a:ext cx="8229600" cy="1371600"/>
          </a:xfrm>
          <a:prstGeom prst="rect">
            <a:avLst/>
          </a:prstGeom>
          <a:solidFill>
            <a:srgbClr val="F8F9FA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32461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Memory-Efficient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57599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Physical batch size 2 with gradient accumulation to 32</a:t>
            </a:r>
            <a:br/>
            <a:r>
              <a:t>• Memory-mapped NumPy arrays enable training on data larger than RAM</a:t>
            </a:r>
            <a:br/>
            <a:r>
              <a:t>• Mixed precision FP16 reduces memory footprint by 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solidFill>
            <a:srgbClr val="F8F9FA"/>
          </a:solidFill>
          <a:ln w="381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95C"/>
                </a:solidFill>
              </a:defRPr>
            </a:pPr>
            <a:r>
              <a:t>Production-Grade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6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4-stage ETL with MongoDB intermediate storage</a:t>
            </a:r>
            <a:br/>
            <a:r>
              <a:t>• Idempotent operations enable recovery from failures</a:t>
            </a:r>
            <a:br/>
            <a:r>
              <a:t>• Year-based processing prevents memory overflow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Always save best validation checkpoint, not final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Use temporal splits for time-series data — random splits are invalid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Gradient clipping essential for recurrent architectures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7452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Design for failure recovery from the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37744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Memory management is architecture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8803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880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Mixed precision is essential for modern GPU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Data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Database is processing buffer, not permanent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Data formats have specialized purposes — use the right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Sequential processing beats parallel when RAM is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Climate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6908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Cloud contamination is dominant data quality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7200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572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Spatial structure is learnable from LST data alone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07492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LST forecasting harder than it appears — huge variability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69280"/>
            <a:ext cx="5486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Evaluation framework matters as much as model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CADCFC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5A82"/>
                </a:solidFill>
              </a:defRPr>
            </a:pPr>
            <a:r>
              <a:t>Project Achievement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E2761"/>
                </a:solidFill>
              </a:defRPr>
            </a:pPr>
            <a:r>
              <a:t>Built complete production-grade Big Data and Deep Learning system for climate forecasting using NASA satellite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Key Accomplishments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Processed 10 years of NASA MODIS data (3,650 files) through 4-stage ETL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75888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Designed and trained custom SpatioTemporalConvLSTM architecture with 446K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9936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Achieved 36× loss reduction with spatial forecasts maintaining geographic coherence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43984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Model learned Egypt's temperature structure (Nile corridor, desert regions) without location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28032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Implemented memory-efficient GPU training with mixed precision and gradient accumulation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Created production-ready pipeline with failure recovery and memory 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046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Demonstrated that deep learning can forecast spatial climate variables at satellite resolution using GPU-accelerated spatiotemporal architectures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3200400"/>
            <a:ext cx="36576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CADCFC"/>
                </a:solidFill>
              </a:defRPr>
            </a:pPr>
            <a:r>
              <a:t>ConvLSTM Climate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t>Spatio-Temporal AI for NASA MODIS Temperature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Faculty of Computer Science &amp; Information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6035040"/>
            <a:ext cx="27432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6080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1706</Words>
  <Application>Microsoft Office PowerPoint</Application>
  <PresentationFormat>On-screen Show (4:3)</PresentationFormat>
  <Paragraphs>334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Amr</cp:lastModifiedBy>
  <cp:revision>2</cp:revision>
  <dcterms:created xsi:type="dcterms:W3CDTF">2013-01-27T09:14:16Z</dcterms:created>
  <dcterms:modified xsi:type="dcterms:W3CDTF">2026-05-11T09:17:27Z</dcterms:modified>
  <cp:category/>
</cp:coreProperties>
</file>